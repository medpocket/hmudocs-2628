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312" r:id="rId3"/>
    <p:sldId id="316" r:id="rId4"/>
    <p:sldId id="314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9610-8905-4F45-93D9-4919D710B9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marR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 THƯƠNG TIẾT NIỆU TRONG PHẪU THUẬT SẢN KHOA</a:t>
            </a:r>
            <a:endParaRPr lang="en-US" sz="35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84CF99-DE70-40A5-96CA-D6B67DEC0A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0647" y="5403689"/>
            <a:ext cx="4934209" cy="1117687"/>
          </a:xfrm>
        </p:spPr>
        <p:txBody>
          <a:bodyPr>
            <a:normAutofit/>
          </a:bodyPr>
          <a:lstStyle/>
          <a:p>
            <a:pPr marL="609600" indent="-609600" algn="ctr" eaLnBrk="1" hangingPunct="1">
              <a:lnSpc>
                <a:spcPct val="90000"/>
              </a:lnSpc>
              <a:defRPr/>
            </a:pP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 </a:t>
            </a: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Huy Hoàng</a:t>
            </a:r>
          </a:p>
          <a:p>
            <a:pPr marL="609600" indent="-609600" algn="ctr" eaLnBrk="1" hangingPunct="1">
              <a:lnSpc>
                <a:spcPct val="90000"/>
              </a:lnSpc>
              <a:defRPr/>
            </a:pP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môn</a:t>
            </a: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Ngọai</a:t>
            </a: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ĐHY </a:t>
            </a: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</a:t>
            </a:r>
            <a:r>
              <a:rPr lang="en-US" sz="2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endParaRPr lang="en-US" sz="2800" b="1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00328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96EFC-49C4-C554-6AE2-6EE1600D1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A5017-3BBE-EFB6-B505-694733E69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505" y="2146434"/>
            <a:ext cx="11434813" cy="3789755"/>
          </a:xfrm>
        </p:spPr>
        <p:txBody>
          <a:bodyPr>
            <a:noAutofit/>
          </a:bodyPr>
          <a:lstStyle/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tai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mọi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	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BC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nặng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viêm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phúc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nhiễm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NQ-ÂD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dù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bao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BQ.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Berard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(1841)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Simon (1869)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sửa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chữa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155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6C400-8914-7E2F-3677-BC95EE002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GIẢI PHẪU ỨNG DỤNG </a:t>
            </a:r>
            <a:endParaRPr lang="en-US" sz="3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F563D-6365-92CC-4F7C-1B005562438F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343" y="2213083"/>
            <a:ext cx="4264660" cy="4447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AB0B98-F9A8-99E5-E1AC-713BF20F5297}"/>
              </a:ext>
            </a:extLst>
          </p:cNvPr>
          <p:cNvSpPr txBox="1"/>
          <p:nvPr/>
        </p:nvSpPr>
        <p:spPr>
          <a:xfrm>
            <a:off x="5053262" y="2800223"/>
            <a:ext cx="6352675" cy="3913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NQ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là 25 - 30cm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nó đi qua các mạch chậu trong để vào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khung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ĐM 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 cung đi qua 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NQ ở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phía trước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đổ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TC,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TC</a:t>
            </a:r>
            <a: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khoảng 1.5cm. 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nằm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đè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TC do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endParaRPr lang="en-US" sz="2400" dirty="0"/>
          </a:p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endParaRPr lang="en-US" sz="2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1961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73DA1-23BC-41C2-C8F3-6315D43F8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59" y="753228"/>
            <a:ext cx="9966923" cy="108093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DỊCH TỄ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6B987-203D-BF1E-21B8-038589A7C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09" y="2213810"/>
            <a:ext cx="5236142" cy="3443246"/>
          </a:xfrm>
        </p:spPr>
        <p:txBody>
          <a:bodyPr>
            <a:noAutofit/>
          </a:bodyPr>
          <a:lstStyle/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khoảng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1%, hay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0,5-2%,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1,3%.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PTNS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A5972F-20CB-BFEE-4A6E-2EC6064E22D7}"/>
              </a:ext>
            </a:extLst>
          </p:cNvPr>
          <p:cNvGraphicFramePr>
            <a:graphicFrameLocks noGrp="1"/>
          </p:cNvGraphicFramePr>
          <p:nvPr/>
        </p:nvGraphicFramePr>
        <p:xfrm>
          <a:off x="5823284" y="2502624"/>
          <a:ext cx="5938787" cy="419221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88607">
                  <a:extLst>
                    <a:ext uri="{9D8B030D-6E8A-4147-A177-3AD203B41FA5}">
                      <a16:colId xmlns:a16="http://schemas.microsoft.com/office/drawing/2014/main" val="769699987"/>
                    </a:ext>
                  </a:extLst>
                </a:gridCol>
                <a:gridCol w="2050180">
                  <a:extLst>
                    <a:ext uri="{9D8B030D-6E8A-4147-A177-3AD203B41FA5}">
                      <a16:colId xmlns:a16="http://schemas.microsoft.com/office/drawing/2014/main" val="2418004685"/>
                    </a:ext>
                  </a:extLst>
                </a:gridCol>
              </a:tblGrid>
              <a:tr h="59913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Phẫu thuật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Tỷ lệ biến chứng (%) niệu quản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22629007"/>
                  </a:ext>
                </a:extLst>
              </a:tr>
              <a:tr h="43071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tử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đường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bụng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26823924"/>
                  </a:ext>
                </a:extLst>
              </a:tr>
              <a:tr h="34483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tiệt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căn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45172459"/>
                  </a:ext>
                </a:extLst>
              </a:tr>
              <a:tr h="282542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Cắt tử cung nội soi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0,45-1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33243255"/>
                  </a:ext>
                </a:extLst>
              </a:tr>
              <a:tr h="40737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Các phẫu thuật nội soi khác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46876971"/>
                  </a:ext>
                </a:extLst>
              </a:tr>
              <a:tr h="40426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Cắt tử cung qua đường âm đạo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0,1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2485552"/>
                  </a:ext>
                </a:extLst>
              </a:tr>
              <a:tr h="282542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Treo vòm âm đạo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2-4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31180470"/>
                  </a:ext>
                </a:extLst>
              </a:tr>
              <a:tr h="282542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Phẫu thuật Burch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0,41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64067232"/>
                  </a:ext>
                </a:extLst>
              </a:tr>
              <a:tr h="282542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Mổ lấy thai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9226092"/>
                  </a:ext>
                </a:extLst>
              </a:tr>
              <a:tr h="36515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tử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phần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1,17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5139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8475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6AE80-011F-8BAE-4334-F4DE583F3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NGUYÊN NHÂN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1655F-3F15-3835-B318-E294A24D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341" y="2209139"/>
            <a:ext cx="5813659" cy="3895633"/>
          </a:xfrm>
        </p:spPr>
        <p:txBody>
          <a:bodyPr>
            <a:noAutofit/>
          </a:bodyPr>
          <a:lstStyle/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Dập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do clamp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nhầm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gập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tắc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do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bóc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tách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nuôi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9C0B4-F788-C06F-D076-9EA8910D57B5}"/>
              </a:ext>
            </a:extLst>
          </p:cNvPr>
          <p:cNvSpPr txBox="1"/>
          <p:nvPr/>
        </p:nvSpPr>
        <p:spPr>
          <a:xfrm>
            <a:off x="6552398" y="2258420"/>
            <a:ext cx="5357261" cy="39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BN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kèm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BQ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24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ếu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lợi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TC to,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viêm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nhiễm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dính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Bn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tia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Bn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cũ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di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en-US" sz="2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906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5516E-610F-DB38-B161-EE59F3547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SINH LÝ BỆNH</a:t>
            </a:r>
            <a:endParaRPr lang="en-US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74CE6-BED7-1A5C-B124-E8FADDB8D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4" y="2107933"/>
            <a:ext cx="11396311" cy="3828256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cảnh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đụng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dập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nhẹ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phục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ứ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thầm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rầm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rộ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Bn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sốt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viêm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PM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urinoma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phúc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Hẹp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ngoài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lột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nuôi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hẹp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Vô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thắt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582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3895-7C65-A08A-316E-6FB0BA139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17299-EDB9-6A19-8B8D-6FA3B684D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509" y="2050181"/>
            <a:ext cx="11492565" cy="38860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70%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biến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nghờ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sonde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TN. </a:t>
            </a: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soi,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dấu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ý.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ội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soi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ngay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sớm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TN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CĐ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NS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chấn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(0,8 so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2,2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1000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chấn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(1,0 so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2,2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1000).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sĩ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880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36E98-A8DE-7EA0-54CE-5D9D3D4B5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" y="753228"/>
            <a:ext cx="10178679" cy="1080938"/>
          </a:xfrm>
        </p:spPr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6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CC16-9C03-98D3-C9FF-F5CCAE30D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03" y="2146434"/>
            <a:ext cx="11694695" cy="3789755"/>
          </a:xfrm>
        </p:spPr>
        <p:txBody>
          <a:bodyPr>
            <a:noAutofit/>
          </a:bodyPr>
          <a:lstStyle/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Hội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khuyến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soi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dục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R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Bơm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thuốc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mầu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Bơm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tĩnh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- Indigo carmine (2,5 ml dung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0,8%):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031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2A6B-1106-22C2-281D-D36D940F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Chẩn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đoán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6FCB9-A259-6999-8615-22A6111CD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631" y="1973179"/>
            <a:ext cx="5277851" cy="3760880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Dấu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vòng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Rỉ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ÂD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hố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TL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Vô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chướng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Buồn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nôn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nôn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Sốt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F6BF1-E29E-8FB0-57E5-CA024BD29B55}"/>
              </a:ext>
            </a:extLst>
          </p:cNvPr>
          <p:cNvSpPr txBox="1"/>
          <p:nvPr/>
        </p:nvSpPr>
        <p:spPr>
          <a:xfrm>
            <a:off x="6545178" y="2076730"/>
            <a:ext cx="5277851" cy="410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Dấu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sz="22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iêm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PM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HC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nhiễm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khuẩn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chướng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khắp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hản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 Khi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khư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trú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sẽ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89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FDE6-535C-527E-6C96-AEEF3EB4D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ận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lâm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sàng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45A16-83B2-E602-85EE-EE53FF3E5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380" y="2134743"/>
            <a:ext cx="8104471" cy="3599316"/>
          </a:xfrm>
        </p:spPr>
        <p:txBody>
          <a:bodyPr>
            <a:noAutofit/>
          </a:bodyPr>
          <a:lstStyle/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ổ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indo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carmin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tĩnh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ổ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mầu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thoát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Siêu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ổ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ổ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tụ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Hai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ứ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CLVT: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BQ.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2" descr="Hẹp đoạn niệu quản">
            <a:extLst>
              <a:ext uri="{FF2B5EF4-FFF2-40B4-BE49-F238E27FC236}">
                <a16:creationId xmlns:a16="http://schemas.microsoft.com/office/drawing/2014/main" id="{AB2084F8-7D74-E656-3FF2-8CC68800B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0208" y="2317550"/>
            <a:ext cx="2789816" cy="3598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7408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E948E-3180-D9C0-9CB7-F9389DA1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Điều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68F59-24D6-FEE8-0825-2598676EC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379" y="1905802"/>
            <a:ext cx="7459579" cy="4030387"/>
          </a:xfrm>
        </p:spPr>
        <p:txBody>
          <a:bodyPr>
            <a:noAutofit/>
          </a:bodyPr>
          <a:lstStyle/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ngoại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JJ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chậm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mũi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JJ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3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rút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E072F1-3717-044C-04F9-2F16E45CA24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89892" y="2040557"/>
            <a:ext cx="3177138" cy="2319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992172-8FDF-526D-2E2D-9DAFE165AF88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89892" y="4456497"/>
            <a:ext cx="3177138" cy="2002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73655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0579-B762-1F9B-75E3-A0A61A5A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 THƯƠNG NQ: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ĐIỀU TRỊ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34C3D-09A5-D2B6-438E-514A801B2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135" y="2336873"/>
            <a:ext cx="5739865" cy="3599316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chống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CĐ: BN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sỏi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PM.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Lich-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Gregoir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 descr="Phẫu thuật nội soi cắm lại 2 niệu quản điều trị luồng trào ngược bàng quang  - niệu quản bẩm sinh | Vinmec">
            <a:extLst>
              <a:ext uri="{FF2B5EF4-FFF2-40B4-BE49-F238E27FC236}">
                <a16:creationId xmlns:a16="http://schemas.microsoft.com/office/drawing/2014/main" id="{F117EB4A-22F1-991E-142E-72CFB2368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9246" y="2588724"/>
            <a:ext cx="5376619" cy="3706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109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5E425-AF72-C1B2-78E5-7CDEEA14D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NQ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điều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endParaRPr lang="en-US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7744C-0D6B-20E2-4F41-D9EA63AE6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511" y="2266890"/>
            <a:ext cx="5544150" cy="3837882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sz="22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ẹp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stent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soi NQ.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sz="22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NQ- ÂĐ,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hẹp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viêm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PM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urinoma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PP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nêu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kê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Ekeke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8270 PT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BC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0,31%. 80%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7AE5AED-26F9-F64C-CCE4-C934C3C6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337917"/>
            <a:ext cx="5877745" cy="41110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62570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5B96E-3A13-9166-D65C-103D388C6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trong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65B87-9707-091D-566F-FA96E5DAA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507" y="2213811"/>
            <a:ext cx="11559941" cy="3722378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 chấn thương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BQ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được phát hiện trong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PT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 chậu,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chấn thương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NQ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đi kèm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 chấn thương bàng quang được ghi nhận tại thời điểm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thường có thể dễ dàng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bởi một hai hoặc ba lớp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 chỉ tự tiêu và ống thông Foley. 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 thuật nội soi 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BQ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xuyên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bởi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trocar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ở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vòm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 vị trí trocar bụng dưới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ở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 giữa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 tránh chấn thương 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BQ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ống thông </a:t>
            </a: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NĐ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BQ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đầy hoặc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 dính nhiều khả năng bị tổn thương.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698444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42BA7-3B39-CF06-8FD2-3981FA575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trong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0092C-E2CC-D7EA-5FA1-D0FE9C6E5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007" y="2336873"/>
            <a:ext cx="11608067" cy="359931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nhỏ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tồn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NĐ,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14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bởi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trocar 5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ở: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vòm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vòm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lợi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tam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thì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khăn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405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C3BF-021B-B273-3016-5336B31C5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5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sz="3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F8E26-B64D-A496-9047-4DBAA77495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631" y="1944304"/>
            <a:ext cx="11531065" cy="4639376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S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au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thường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chứng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âm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đạo</a:t>
            </a:r>
            <a:endParaRPr lang="en-US" sz="2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1960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BQ-ÂĐ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cuộc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đẻ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kéo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BQ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xương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mu, BQ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vỡ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rách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kẹt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hoại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TC,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NĐ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thắt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kẹt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dưới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gây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hoại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NĐ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dưới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thắt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nay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PT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chiếm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BQ-ÂĐ, BQ-TC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xẩy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PT: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spcBef>
                <a:spcPts val="0"/>
              </a:spcBef>
              <a:buFont typeface="Times New Roman" panose="02020603050405020304" pitchFamily="18" charset="0"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spcBef>
                <a:spcPts val="0"/>
              </a:spcBef>
              <a:buFont typeface="Times New Roman" panose="02020603050405020304" pitchFamily="18" charset="0"/>
              <a:buChar char="-"/>
              <a:tabLst>
                <a:tab pos="685800" algn="l"/>
              </a:tabLst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thiệp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khoa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forceps.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spcBef>
                <a:spcPts val="0"/>
              </a:spcBef>
              <a:buFont typeface="Times New Roman" panose="02020603050405020304" pitchFamily="18" charset="0"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TC,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2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TC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vỡ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chảy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26321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EDF6D-26A1-DC73-DC35-6932D3D0B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F52BF-C02C-5EEC-536A-88D68748C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133" y="2079057"/>
            <a:ext cx="11656193" cy="3857132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&lt;3cm.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vùng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tam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rỉ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BQ-ÂĐ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nặng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gặp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thai.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nằm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94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75D6-9C63-F3D5-6618-699670EC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1F8DD-A6C1-585C-7785-86E3B0987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62" y="1913362"/>
            <a:ext cx="11322382" cy="3599316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Triệu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bãi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máu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ngay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TC.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Nếu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Soi BQ: Cho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68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3A531-1143-A755-1259-90385F1D8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bàng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quang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5058D-59E5-0539-1615-BD755284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011" y="2204185"/>
            <a:ext cx="11338560" cy="3732004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lâm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sàng</a:t>
            </a:r>
            <a:endParaRPr lang="en-US" b="1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Siêu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NQ, BQ.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CLVT: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Chụp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BQ-NĐ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Khi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chụp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CLVT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thì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cũng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vi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khuẩn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233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D277C-7D05-C3A4-9F88-8BA2B6EA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ĐIỀU TRỊ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6A63B-F8DD-9BF4-1463-6EF3BB9C6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966247" cy="3599316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tắc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BQ-ÂĐ.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Theo R. Couvelaire (1953) “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Nhìn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thấy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kín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căng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nước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tiểu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”.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  <a:tabLst>
                <a:tab pos="685800" algn="l"/>
              </a:tabLst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BQ-ÂĐ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đẻ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giả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3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tháng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nay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sớm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vừa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hậu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  <a:tabLst>
                <a:tab pos="685800" algn="l"/>
              </a:tabLst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phẫu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sớm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7952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A408-2D76-BB89-5C79-A5F04FF54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Tổn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ĐIỀU TRỊ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79384-1E7A-793C-B83B-661433889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381" y="1951861"/>
            <a:ext cx="11434813" cy="5084205"/>
          </a:xfrm>
        </p:spPr>
        <p:txBody>
          <a:bodyPr>
            <a:noAutofit/>
          </a:bodyPr>
          <a:lstStyle/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ÂD, BN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nằm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sấp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cổ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ngoài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PM: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phức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gần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NQ,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BQ-TC.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bụng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phức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tạp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685800" algn="l"/>
              </a:tabLst>
            </a:pP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mổ</a:t>
            </a:r>
            <a:r>
              <a:rPr lang="en-US" sz="2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sonde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Cắt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mép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lỗ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tách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endParaRPr lang="en-US" sz="22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Khâu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AD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chậm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tabLst>
                <a:tab pos="685800" algn="l"/>
              </a:tabLst>
            </a:pP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meche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âm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sonde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niệu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2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257401588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486</TotalTime>
  <Words>2264</Words>
  <Application>Microsoft Office PowerPoint</Application>
  <PresentationFormat>Widescreen</PresentationFormat>
  <Paragraphs>149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Courier New</vt:lpstr>
      <vt:lpstr>Times New Roman</vt:lpstr>
      <vt:lpstr>Trebuchet MS</vt:lpstr>
      <vt:lpstr>Wingdings</vt:lpstr>
      <vt:lpstr>Berlin</vt:lpstr>
      <vt:lpstr>TỔN THƯƠNG TIẾT NIỆU TRONG PHẪU THUẬT SẢN KHOA</vt:lpstr>
      <vt:lpstr>TỔNG QUAN</vt:lpstr>
      <vt:lpstr>GIẢI PHẪU ỨNG DỤNG </vt:lpstr>
      <vt:lpstr>TỔN THƯƠNG NQ: DỊCH TỄ</vt:lpstr>
      <vt:lpstr>TỔN THƯƠNG NQ: NGUYÊN NHÂN</vt:lpstr>
      <vt:lpstr>TỔN THƯƠNG NQ: SINH LÝ BỆNH</vt:lpstr>
      <vt:lpstr>TỔN THƯƠNG NQ</vt:lpstr>
      <vt:lpstr>TỔN THƯƠNG NQ: Chẩn đoán trong mổ  </vt:lpstr>
      <vt:lpstr>Chẩn đoán sau mổ</vt:lpstr>
      <vt:lpstr>Cận lâm sàng</vt:lpstr>
      <vt:lpstr>TỔN THƯƠNG NQ: Điều trị</vt:lpstr>
      <vt:lpstr>TỔN THƯƠNG NQ: ĐIỀU TRỊ</vt:lpstr>
      <vt:lpstr>Tổn thương NQ phát hiện sau mổ: điều trị</vt:lpstr>
      <vt:lpstr>Tổn thương bàng quang phát hiện trong mổ</vt:lpstr>
      <vt:lpstr>Tổn thương bàng quang phát hiện trong mổ</vt:lpstr>
      <vt:lpstr>Tổn thương bàng quang phát hiện sau mổ</vt:lpstr>
      <vt:lpstr>Tổn thương bàng quang phát hiện sau mổ</vt:lpstr>
      <vt:lpstr>Tổn thương bàng quang phát hiện sau mổ</vt:lpstr>
      <vt:lpstr>Tổn thương bàng quang phát hiện sau mổ</vt:lpstr>
      <vt:lpstr>Tổn thương BQ sau mổ: ĐIỀU TRỊ</vt:lpstr>
      <vt:lpstr>Tổn thương BQ sau mổ: ĐIỀU TRỊ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KHÁM HỆ TIẾT NIỆU -   SINH DỤC NAM</dc:title>
  <dc:creator>Huy Hoang Nguyen</dc:creator>
  <cp:lastModifiedBy>Administrator</cp:lastModifiedBy>
  <cp:revision>50</cp:revision>
  <dcterms:created xsi:type="dcterms:W3CDTF">2021-01-23T02:11:06Z</dcterms:created>
  <dcterms:modified xsi:type="dcterms:W3CDTF">2026-10-29T03:14:24Z</dcterms:modified>
</cp:coreProperties>
</file>
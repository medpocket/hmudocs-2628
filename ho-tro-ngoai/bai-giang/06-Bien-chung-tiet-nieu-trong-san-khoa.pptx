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12" r:id="rId3"/>
    <p:sldId id="316" r:id="rId4"/>
    <p:sldId id="314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9610-8905-4F45-93D9-4919D710B9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 THƯƠNG TIẾT NIỆU TRONG PHẪU THUẬT SẢN KHOA</a:t>
            </a:r>
            <a:endParaRPr lang="en-US" sz="35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4CF99-DE70-40A5-96CA-D6B67DEC0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0647" y="5403689"/>
            <a:ext cx="4934209" cy="1117687"/>
          </a:xfrm>
        </p:spPr>
        <p:txBody>
          <a:bodyPr>
            <a:normAutofit/>
          </a:bodyPr>
          <a:lstStyle/>
          <a:p>
            <a:pPr marL="609600" indent="-609600" algn="ctr"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Huy Hoàng</a:t>
            </a:r>
          </a:p>
          <a:p>
            <a:pPr marL="609600" indent="-609600" algn="ctr" eaLnBrk="1" hangingPunct="1">
              <a:lnSpc>
                <a:spcPct val="90000"/>
              </a:lnSpc>
              <a:defRPr/>
            </a:pP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Ngọai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ĐHY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endParaRPr lang="en-US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00328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6EFC-49C4-C554-6AE2-6EE1600D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5017-3BBE-EFB6-B505-694733E69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2146434"/>
            <a:ext cx="11434813" cy="3789755"/>
          </a:xfrm>
        </p:spPr>
        <p:txBody>
          <a:bodyPr>
            <a:noAutofit/>
          </a:bodyPr>
          <a:lstStyle/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PT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	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BC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nhiễm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NQ-ÂD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dù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Berard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(1841)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Simon ( 1869)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PT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PT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15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C400-8914-7E2F-3677-BC95EE002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GIẢI PHẪU ỨNG DỤNG </a:t>
            </a:r>
            <a:endParaRPr lang="en-US" sz="3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F563D-6365-92CC-4F7C-1B005562438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343" y="2213083"/>
            <a:ext cx="4264660" cy="444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AB0B98-F9A8-99E5-E1AC-713BF20F5297}"/>
              </a:ext>
            </a:extLst>
          </p:cNvPr>
          <p:cNvSpPr txBox="1"/>
          <p:nvPr/>
        </p:nvSpPr>
        <p:spPr>
          <a:xfrm>
            <a:off x="5053262" y="2800223"/>
            <a:ext cx="6352675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NQ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là 25 - 30cm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nó đi qua các mạch chậu trong để vào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ĐM 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 cung đi qua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NQ ở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phía trước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TC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khoảng 1.5cm.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đè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 do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endParaRPr lang="en-US" sz="2400" dirty="0"/>
          </a:p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96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3DA1-23BC-41C2-C8F3-6315D43F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59" y="753228"/>
            <a:ext cx="9966923" cy="10809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 THƯƠNG NQ: DỊCH TỄ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B987-203D-BF1E-21B8-038589A7C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09" y="2213810"/>
            <a:ext cx="5236142" cy="3443246"/>
          </a:xfrm>
        </p:spPr>
        <p:txBody>
          <a:bodyPr>
            <a:noAutofit/>
          </a:bodyPr>
          <a:lstStyle/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PT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1%, hay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0,5-2%,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1,3%.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PTNS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dường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A5972F-20CB-BFEE-4A6E-2EC6064E22D7}"/>
              </a:ext>
            </a:extLst>
          </p:cNvPr>
          <p:cNvGraphicFramePr>
            <a:graphicFrameLocks noGrp="1"/>
          </p:cNvGraphicFramePr>
          <p:nvPr/>
        </p:nvGraphicFramePr>
        <p:xfrm>
          <a:off x="5823284" y="2502624"/>
          <a:ext cx="5938787" cy="41922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8607">
                  <a:extLst>
                    <a:ext uri="{9D8B030D-6E8A-4147-A177-3AD203B41FA5}">
                      <a16:colId xmlns:a16="http://schemas.microsoft.com/office/drawing/2014/main" val="769699987"/>
                    </a:ext>
                  </a:extLst>
                </a:gridCol>
                <a:gridCol w="2050180">
                  <a:extLst>
                    <a:ext uri="{9D8B030D-6E8A-4147-A177-3AD203B41FA5}">
                      <a16:colId xmlns:a16="http://schemas.microsoft.com/office/drawing/2014/main" val="2418004685"/>
                    </a:ext>
                  </a:extLst>
                </a:gridCol>
              </a:tblGrid>
              <a:tr h="59913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Phẫu thuật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Tỷ lệ biến chứng (%) niệu quản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2629007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Cắt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cung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đường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bụng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6823924"/>
                  </a:ext>
                </a:extLst>
              </a:tr>
              <a:tr h="34483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Cắt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cung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tiệt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căn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5172459"/>
                  </a:ext>
                </a:extLst>
              </a:tr>
              <a:tr h="2825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Cắt tử cung nội soi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0,45-1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3243255"/>
                  </a:ext>
                </a:extLst>
              </a:tr>
              <a:tr h="4073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phẫu thuật nội soi khác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6876971"/>
                  </a:ext>
                </a:extLst>
              </a:tr>
              <a:tr h="4042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Cắt tử cung qua đường âm đạo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2485552"/>
                  </a:ext>
                </a:extLst>
              </a:tr>
              <a:tr h="2825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Treo vòm âm đạo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1180470"/>
                  </a:ext>
                </a:extLst>
              </a:tr>
              <a:tr h="2825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Phẫu thuật Burch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067232"/>
                  </a:ext>
                </a:extLst>
              </a:tr>
              <a:tr h="2825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Mổ lấy thai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9226092"/>
                  </a:ext>
                </a:extLst>
              </a:tr>
              <a:tr h="36515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Cắt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cung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5139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47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AE80-011F-8BAE-4334-F4DE583F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 THƯƠNG NQ: NGUYÊN NHÂN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655F-3F15-3835-B318-E294A24D9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341" y="2209139"/>
            <a:ext cx="5813659" cy="3895633"/>
          </a:xfrm>
        </p:spPr>
        <p:txBody>
          <a:bodyPr>
            <a:noAutofit/>
          </a:bodyPr>
          <a:lstStyle/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Dập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do clamp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nhầm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gập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do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bóc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nuôi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9C0B4-F788-C06F-D076-9EA8910D57B5}"/>
              </a:ext>
            </a:extLst>
          </p:cNvPr>
          <p:cNvSpPr txBox="1"/>
          <p:nvPr/>
        </p:nvSpPr>
        <p:spPr>
          <a:xfrm>
            <a:off x="6552398" y="2258420"/>
            <a:ext cx="5357261" cy="39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BQ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ếu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TC to,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nhiễm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dính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di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90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516E-610F-DB38-B161-EE59F354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 THƯƠNG NQ: 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SINH LÝ BỆNH</a:t>
            </a:r>
            <a:endParaRPr lang="en-US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4CE6-BED7-1A5C-B124-E8FADDB8D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34" y="2107933"/>
            <a:ext cx="11396311" cy="3828256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đụng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dập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nhẹ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ứ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thầm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rầm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rộ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PM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urinoma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Hẹp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lột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nuôi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hẹp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thắt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582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3895-7C65-A08A-316E-6FB0BA13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 THƯƠNG NQ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17299-EDB9-6A19-8B8D-6FA3B684D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9" y="2050181"/>
            <a:ext cx="11492565" cy="38860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70%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biến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nghờ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sonde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máu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TN. </a:t>
            </a: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soi,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ý.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ội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soi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sớm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NS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(0,8 so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2,2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1000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(1,0 so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2,2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1000).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880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36E98-A8DE-7EA0-54CE-5D9D3D4B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" y="753228"/>
            <a:ext cx="10178679" cy="1080938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 THƯƠNG NQ: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DCC16-9C03-98D3-C9FF-F5CCAE30D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" y="2146434"/>
            <a:ext cx="11694695" cy="3789755"/>
          </a:xfrm>
        </p:spPr>
        <p:txBody>
          <a:bodyPr>
            <a:noAutofit/>
          </a:bodyPr>
          <a:lstStyle/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soi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mầu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Indigo carmine (2,5 ml dung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0,8%):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3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2A6B-1106-22C2-281D-D36D940F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Chẩn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đoán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6FCB9-A259-6999-8615-22A6111CD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1" y="1973179"/>
            <a:ext cx="5277851" cy="3760880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 ÂD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hố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TL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máu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sz="2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chướng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Buồn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nôn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nôn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Sốt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F6BF1-E29E-8FB0-57E5-CA024BD29B55}"/>
              </a:ext>
            </a:extLst>
          </p:cNvPr>
          <p:cNvSpPr txBox="1"/>
          <p:nvPr/>
        </p:nvSpPr>
        <p:spPr>
          <a:xfrm>
            <a:off x="6545178" y="2076730"/>
            <a:ext cx="5277851" cy="410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iêm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PM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HC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nhiễm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khuẩn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chướng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khắp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hản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Khi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khư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trú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88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FDE6-535C-527E-6C96-AEEF3EB4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ận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lâm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sàng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45A16-83B2-E602-85EE-EE53FF3E5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80" y="2134743"/>
            <a:ext cx="8104471" cy="3599316"/>
          </a:xfrm>
        </p:spPr>
        <p:txBody>
          <a:bodyPr>
            <a:no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ổ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carmin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ổ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mầu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ổ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ổ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ứ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CLVT: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NQ, BQ. 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2" descr="Hẹp đoạn niệu quản">
            <a:extLst>
              <a:ext uri="{FF2B5EF4-FFF2-40B4-BE49-F238E27FC236}">
                <a16:creationId xmlns:a16="http://schemas.microsoft.com/office/drawing/2014/main" id="{AB2084F8-7D74-E656-3FF2-8CC68800B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208" y="2317550"/>
            <a:ext cx="2789816" cy="359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40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948E-3180-D9C0-9CB7-F9389DA1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 THƯƠNG NQ: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68F59-24D6-FEE8-0825-2598676EC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9" y="1905802"/>
            <a:ext cx="7459579" cy="4030387"/>
          </a:xfrm>
        </p:spPr>
        <p:txBody>
          <a:bodyPr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JJ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mũi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JJ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072F1-3717-044C-04F9-2F16E45CA2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89892" y="2040557"/>
            <a:ext cx="3177138" cy="2319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92172-8FDF-526D-2E2D-9DAFE165AF8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89892" y="4456497"/>
            <a:ext cx="3177138" cy="2002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365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0579-B762-1F9B-75E3-A0A61A5A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 THƯƠNG NQ: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TRỊ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34C3D-09A5-D2B6-438E-514A801B2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35" y="2336873"/>
            <a:ext cx="5739865" cy="3599316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CĐ: BN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sỏi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PM.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Lich-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Gregoir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Phẫu thuật nội soi cắm lại 2 niệu quản điều trị luồng trào ngược bàng quang  - niệu quản bẩm sinh | Vinmec">
            <a:extLst>
              <a:ext uri="{FF2B5EF4-FFF2-40B4-BE49-F238E27FC236}">
                <a16:creationId xmlns:a16="http://schemas.microsoft.com/office/drawing/2014/main" id="{F117EB4A-22F1-991E-142E-72CFB2368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246" y="2588724"/>
            <a:ext cx="5376619" cy="370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09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E425-AF72-C1B2-78E5-7CDEEA14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NQ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endParaRPr lang="en-US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7744C-0D6B-20E2-4F41-D9EA63AE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11" y="2266890"/>
            <a:ext cx="5544150" cy="3837882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ẹp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stent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soi NQ.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NQ- ÂĐ,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hẹp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PM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urinoma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PP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nêu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Ekeke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8270 PT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BC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0,31%. 80%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AE5AED-26F9-F64C-CCE4-C934C3C65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37917"/>
            <a:ext cx="5877745" cy="4111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570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B96E-3A13-9166-D65C-103D388C6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5B87-9707-091D-566F-FA96E5DAA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07" y="2213811"/>
            <a:ext cx="11559941" cy="3722378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 chấn thương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BQ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được phát hiện trong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vùng chậu,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chấn thương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NQ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đi kèm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 chấn thương bàng quang được ghi nhận tại thời điểm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thường có thể dễ dàng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bởi một hai hoặc ba lớp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 chỉ tự tiêu và ống thông Foley. 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 thuật nội soi 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BQ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thường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xuyên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trocar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vòm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 vị trí trocar bụng dưới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đường giữa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 tránh chấn thương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BQ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ống thông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NĐ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BQ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đầy hoặc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 dính nhiều khả năng bị tổn thương.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98444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2BA7-3B39-CF06-8FD2-3981FA57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0092C-E2CC-D7EA-5FA1-D0FE9C6E5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2336873"/>
            <a:ext cx="11608067" cy="359931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NĐ,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14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trocar 5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ở: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vòm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vòm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tam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405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C3BF-021B-B273-3016-5336B31C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F8E26-B64D-A496-9047-4DBAA7749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1" y="1944304"/>
            <a:ext cx="11531065" cy="4639376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thường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âm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đạo</a:t>
            </a:r>
            <a:endParaRPr lang="en-US" sz="2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1960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BQ-ÂĐ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đẻ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BQ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xương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mu, BQ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vỡ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rách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kẹt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TC,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NQ, NĐ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thắt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kẹt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NĐ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thắt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PT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BQ-ÂĐ, BQ-TC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xẩy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PT: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-"/>
              <a:tabLst>
                <a:tab pos="685800" algn="l"/>
              </a:tabLs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-"/>
              <a:tabLst>
                <a:tab pos="685800" algn="l"/>
              </a:tabLs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thiệp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forceps.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-"/>
              <a:tabLst>
                <a:tab pos="685800" algn="l"/>
              </a:tabLs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TC,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TC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vỡ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chảy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26321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DF6D-26A1-DC73-DC35-6932D3D0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F52BF-C02C-5EEC-536A-88D68748C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33" y="2079057"/>
            <a:ext cx="11656193" cy="3857132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&lt;3cm.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tam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Ở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BQ-ÂĐ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thai.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94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75D6-9C63-F3D5-6618-699670EC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1F8DD-A6C1-585C-7785-86E3B0987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62" y="1913362"/>
            <a:ext cx="11322382" cy="3599316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bãi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TC.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Soi BQ: Cho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6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A531-1143-A755-1259-90385F1D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thương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5058D-59E5-0539-1615-BD755284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2204185"/>
            <a:ext cx="11338560" cy="3732004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lâm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NQ, BQ.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CLVT: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BQ-NĐ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Khi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CLVT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khuẩn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33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277C-7D05-C3A4-9F88-8BA2B6EA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TRỊ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6A63B-F8DD-9BF4-1463-6EF3BB9C6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966247" cy="3599316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BQ-ÂĐ. 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 R. Couvelaire (1953) “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căng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6858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BQ-ÂĐ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đẻ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sớm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6858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sớm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A408-2D76-BB89-5C79-A5F04FF5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TRỊ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9384-1E7A-793C-B83B-661433889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381" y="1951861"/>
            <a:ext cx="11434813" cy="5084205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ÂD, BN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sấp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PM: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NQ,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BQ-TC.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5800" algn="l"/>
              </a:tabLst>
            </a:pP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mổ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tabLst>
                <a:tab pos="685800" algn="l"/>
              </a:tabLs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sonde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tabLst>
                <a:tab pos="685800" algn="l"/>
              </a:tabLs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mép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endParaRPr lang="en-US" sz="2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tabLst>
                <a:tab pos="685800" algn="l"/>
              </a:tabLs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Khâu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tabLst>
                <a:tab pos="685800" algn="l"/>
              </a:tabLst>
            </a:pP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meche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sonde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niệu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5740158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473</TotalTime>
  <Words>2264</Words>
  <Application>Microsoft Office PowerPoint</Application>
  <PresentationFormat>Widescreen</PresentationFormat>
  <Paragraphs>149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Berlin</vt:lpstr>
      <vt:lpstr>TỔN THƯƠNG TIẾT NIỆU TRONG PHẪU THUẬT SẢN KHOA</vt:lpstr>
      <vt:lpstr>TỔNG QUAN</vt:lpstr>
      <vt:lpstr>GIẢI PHẪU ỨNG DỤNG </vt:lpstr>
      <vt:lpstr>TỔN THƯƠNG NQ: DỊCH TỄ</vt:lpstr>
      <vt:lpstr>TỔN THƯƠNG NQ: NGUYÊN NHÂN</vt:lpstr>
      <vt:lpstr>TỔN THƯƠNG NQ: SINH LÝ BỆNH</vt:lpstr>
      <vt:lpstr>TỔN THƯƠNG NQ</vt:lpstr>
      <vt:lpstr>TỔN THƯƠNG NQ: Chẩn đoán trong mổ  </vt:lpstr>
      <vt:lpstr>Chẩn đoán sau mổ</vt:lpstr>
      <vt:lpstr>Cận lâm sàng</vt:lpstr>
      <vt:lpstr>TỔN THƯƠNG NQ: Điều trị</vt:lpstr>
      <vt:lpstr>TỔN THƯƠNG NQ: ĐIỀU TRỊ</vt:lpstr>
      <vt:lpstr>Tổn thương NQ phát hiện sau mổ: điều trị</vt:lpstr>
      <vt:lpstr>Tổn thương bàng quang phát hiện trong mổ</vt:lpstr>
      <vt:lpstr>Tổn thương bàng quang phát hiện trong mổ</vt:lpstr>
      <vt:lpstr>Tổn thương bàng quang phát hiện sau mổ</vt:lpstr>
      <vt:lpstr>Tổn thương bàng quang phát hiện sau mổ</vt:lpstr>
      <vt:lpstr>Tổn thương bàng quang phát hiện sau mổ</vt:lpstr>
      <vt:lpstr>Tổn thương bàng quang phát hiện sau mổ</vt:lpstr>
      <vt:lpstr>Tổn thương BQ sau mổ: ĐIỀU TRỊ</vt:lpstr>
      <vt:lpstr>Tổn thương BQ sau mổ: ĐIỀU TRỊ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KHÁM HỆ TIẾT NIỆU -   SINH DỤC NAM</dc:title>
  <dc:creator>Huy Hoang Nguyen</dc:creator>
  <cp:lastModifiedBy>NGUYỄN LONG NHẬT</cp:lastModifiedBy>
  <cp:revision>47</cp:revision>
  <dcterms:created xsi:type="dcterms:W3CDTF">2021-01-23T02:11:06Z</dcterms:created>
  <dcterms:modified xsi:type="dcterms:W3CDTF">2026-10-21T05:18:07Z</dcterms:modified>
</cp:coreProperties>
</file>